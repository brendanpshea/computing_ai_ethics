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notesMaster" Target="notesMasters/notesMaster1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Start with something that grabs attention!</a:t>
            </a:r>
          </a:p>
          <a:p>
            <a:pPr lvl="0" indent="0" marL="0">
              <a:buNone/>
            </a:pPr>
          </a:p>
          <a:p>
            <a:pPr lvl="0"/>
            <a:r>
              <a:rPr/>
              <a:t>A provocative question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A surprising statistic</a:t>
            </a:r>
            <a:br/>
          </a:p>
          <a:p>
            <a:pPr lvl="0" indent="0" marL="0">
              <a:buNone/>
            </a:pPr>
          </a:p>
          <a:p>
            <a:pPr lvl="0"/>
            <a:r>
              <a:rPr/>
              <a:t>A brief story or scenario</a:t>
            </a:r>
          </a:p>
          <a:p>
            <a:pPr lvl="0" indent="0" marL="0">
              <a:buNone/>
            </a:pPr>
          </a:p>
          <a:p>
            <a:pPr lvl="0"/>
            <a:r>
              <a:rPr/>
              <a:t>A striking quote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Example: “What if an algorithm decided whether you got a job interview—and you never knew why?”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Frame the core ethical debate clearly. What is the fundamental question at stake?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Example: “Should facial recognition technology be permitted in public spaces?”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Provide necessary context for your audience.</a:t>
            </a:r>
          </a:p>
          <a:p>
            <a:pPr lvl="0" indent="0" marL="0">
              <a:buNone/>
            </a:pPr>
          </a:p>
          <a:p>
            <a:pPr lvl="0"/>
            <a:r>
              <a:rPr/>
              <a:t>When did this debate emerge?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technological developments made it relevant?</a:t>
            </a:r>
          </a:p>
          <a:p>
            <a:pPr lvl="0" indent="0" marL="0">
              <a:buNone/>
            </a:pPr>
          </a:p>
          <a:p>
            <a:pPr lvl="0"/>
            <a:r>
              <a:rPr/>
              <a:t>Brief timeline of key events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Introduce an important person, organization, or technology.</a:t>
            </a:r>
          </a:p>
          <a:p>
            <a:pPr lvl="0" indent="0" marL="0">
              <a:buNone/>
            </a:pPr>
          </a:p>
          <a:p>
            <a:pPr lvl="0"/>
            <a:r>
              <a:rPr/>
              <a:t>Who are they / What is it?</a:t>
            </a:r>
          </a:p>
          <a:p>
            <a:pPr lvl="0" indent="0" marL="0">
              <a:buNone/>
            </a:pPr>
          </a:p>
          <a:p>
            <a:pPr lvl="0"/>
            <a:r>
              <a:rPr/>
              <a:t>Why are they significant to this debate?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is their position or contribution?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Introduce another important person, organization, or technology. Consider showing contrasting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Overview of the main arguments supporting one side. List 2-4 main points you’ll expand on in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How does this position respect or promote autonomy?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Autonomy = respecting individuals’ right to make their own informed decisions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Consider: Does this protect or enhance people’s ability to choose freely?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How does this position promote good outcomes?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Beneficence = actively doing good, promoting well-being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Consider: What benefits does this create? For whom?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Overview of the main arguments opposing this position. List 2-4 main points you’ll expand on in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What harms might this cause?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Nonmaleficence = “do no harm,” avoiding negative consequences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Consider: What are the risks? Who might be harmed?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Are there fairness or equity concerns?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Justice = fair distribution of benefits and burdens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Consider: Does this treat people fairly? Are some groups disproportionately affected?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Address transparency concerns on both sides.</a:t>
            </a:r>
          </a:p>
          <a:p>
            <a:pPr lvl="0" indent="0" marL="0">
              <a:buNone/>
            </a:pPr>
          </a:p>
          <a:p>
            <a:pPr lvl="0"/>
            <a:r>
              <a:rPr/>
              <a:t>Who is responsible when things go wrong?</a:t>
            </a:r>
          </a:p>
          <a:p>
            <a:pPr lvl="0" indent="0" marL="0">
              <a:buNone/>
            </a:pPr>
          </a:p>
          <a:p>
            <a:pPr lvl="0"/>
            <a:r>
              <a:rPr/>
              <a:t>Is the decision-making process understandable?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affected parties seek recourse?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This is YOUR analysis. Don’t just summarize—evaluate!</a:t>
            </a:r>
          </a:p>
          <a:p>
            <a:pPr lvl="0" indent="0" marL="0">
              <a:buNone/>
            </a:pPr>
          </a:p>
          <a:p>
            <a:pPr lvl="0"/>
            <a:r>
              <a:rPr/>
              <a:t>Which arguments do you find most compelling and why?</a:t>
            </a:r>
          </a:p>
          <a:p>
            <a:pPr lvl="0" indent="0" marL="0">
              <a:buNone/>
            </a:pPr>
          </a:p>
          <a:p>
            <a:pPr lvl="0"/>
            <a:r>
              <a:rPr/>
              <a:t>Are there ways to balance competing concerns?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additional considerations matter?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Wrap up your presentation clearly.</a:t>
            </a:r>
          </a:p>
          <a:p>
            <a:pPr lvl="0" indent="0" marL="0">
              <a:buNone/>
            </a:pPr>
          </a:p>
          <a:p>
            <a:pPr lvl="0"/>
            <a:r>
              <a:rPr/>
              <a:t>Restate the central question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Summarize the key tensions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State your reasoned position (if appropriate)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should we do going forward?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Prepare 2-3 questions to engage your classmates. Good questions are open-ended and invite multiple perspectives.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GUIDANCE: List your sources in MLA, APA, or Chicago format. Include at least 3-5 credible sources. Cite academic articles, reputable news sources, official reports,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 ready to answer questions! Review your sources and key arguments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[Your Debate Topic Title]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Computing and AI Ethics Presentation</a:t>
            </a:r>
            <a:br/>
            <a:br/>
            <a:r>
              <a:rPr/>
              <a:t>[Your Name]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[Date]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[Your attention-grabbing hook here]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Central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[State your central ethical question here]</a:t>
            </a:r>
          </a:p>
          <a:p>
            <a:pPr lvl="0" indent="0" marL="0">
              <a:buNone/>
            </a:pPr>
            <a:r>
              <a:rPr/>
              <a:t>Why does this matter for computing and AI ethics?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Background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context point 1</a:t>
            </a:r>
          </a:p>
          <a:p>
            <a:pPr lvl="0"/>
            <a:r>
              <a:rPr/>
              <a:t>Key context point 2</a:t>
            </a:r>
          </a:p>
          <a:p>
            <a:pPr lvl="0"/>
            <a:r>
              <a:rPr/>
              <a:t>Key context point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Figure or Technology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[Name of Figure/Technology]</a:t>
            </a:r>
          </a:p>
          <a:p>
            <a:pPr lvl="0"/>
            <a:r>
              <a:rPr/>
              <a:t>Role/significance</a:t>
            </a:r>
          </a:p>
          <a:p>
            <a:pPr lvl="0"/>
            <a:r>
              <a:rPr/>
              <a:t>Key contributions to the debate</a:t>
            </a:r>
          </a:p>
          <a:p>
            <a:pPr lvl="0"/>
            <a:r>
              <a:rPr/>
              <a:t>Their stance (if applicable)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Figure or Technology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[Name of Figure/Technology]</a:t>
            </a:r>
          </a:p>
          <a:p>
            <a:pPr lvl="0"/>
            <a:r>
              <a:rPr/>
              <a:t>Role/significance</a:t>
            </a:r>
          </a:p>
          <a:p>
            <a:pPr lvl="0"/>
            <a:r>
              <a:rPr/>
              <a:t>Key contributions to the debate</a:t>
            </a:r>
          </a:p>
          <a:p>
            <a:pPr lvl="0"/>
            <a:r>
              <a:rPr/>
              <a:t>Their stance (if applicable)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Arguments in Favor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Those who support this position argue:</a:t>
            </a:r>
          </a:p>
          <a:p>
            <a:pPr lvl="0" indent="-342900" marL="342900">
              <a:buAutoNum type="arabicPeriod"/>
            </a:pPr>
            <a:r>
              <a:rPr/>
              <a:t>[First main argument]</a:t>
            </a:r>
          </a:p>
          <a:p>
            <a:pPr lvl="0" indent="-342900" marL="342900">
              <a:buAutoNum type="arabicPeriod"/>
            </a:pPr>
            <a:r>
              <a:rPr/>
              <a:t>[Second main argument]</a:t>
            </a:r>
          </a:p>
          <a:p>
            <a:pPr lvl="0" indent="-342900" marL="342900">
              <a:buAutoNum type="arabicPeriod"/>
            </a:pPr>
            <a:r>
              <a:rPr/>
              <a:t>[Third main argument]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 FOR: Autonomy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Principle: Autonomy</a:t>
            </a:r>
            <a:r>
              <a:rPr/>
              <a:t> — Respecting self-determination</a:t>
            </a:r>
          </a:p>
          <a:p>
            <a:pPr lvl="0"/>
            <a:r>
              <a:rPr/>
              <a:t>How this position supports individual autonomy</a:t>
            </a:r>
          </a:p>
          <a:p>
            <a:pPr lvl="0"/>
            <a:r>
              <a:rPr/>
              <a:t>Example or evidence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 FOR: Beneficence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Principle: Beneficence</a:t>
            </a:r>
            <a:r>
              <a:rPr/>
              <a:t> — Promoting well-being</a:t>
            </a:r>
          </a:p>
          <a:p>
            <a:pPr lvl="0"/>
            <a:r>
              <a:rPr/>
              <a:t>How this position creates positive outcomes</a:t>
            </a:r>
          </a:p>
          <a:p>
            <a:pPr lvl="0"/>
            <a:r>
              <a:rPr/>
              <a:t>Who benefits and how?</a:t>
            </a:r>
          </a:p>
          <a:p>
            <a:pPr lvl="0"/>
            <a:r>
              <a:rPr/>
              <a:t>Example or evidence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Arguments Against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Those who oppose this position argue:</a:t>
            </a:r>
          </a:p>
          <a:p>
            <a:pPr lvl="0" indent="-342900" marL="342900">
              <a:buAutoNum type="arabicPeriod"/>
            </a:pPr>
            <a:r>
              <a:rPr/>
              <a:t>[First main argument]</a:t>
            </a:r>
          </a:p>
          <a:p>
            <a:pPr lvl="0" indent="-342900" marL="342900">
              <a:buAutoNum type="arabicPeriod"/>
            </a:pPr>
            <a:r>
              <a:rPr/>
              <a:t>[Second main argument]</a:t>
            </a:r>
          </a:p>
          <a:p>
            <a:pPr lvl="0" indent="-342900" marL="342900">
              <a:buAutoNum type="arabicPeriod"/>
            </a:pPr>
            <a:r>
              <a:rPr/>
              <a:t>[Third main argument]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 AGAINST: Nonmaleficence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Principle: Nonmaleficence</a:t>
            </a:r>
            <a:r>
              <a:rPr/>
              <a:t> — Avoiding harm</a:t>
            </a:r>
          </a:p>
          <a:p>
            <a:pPr lvl="0"/>
            <a:r>
              <a:rPr/>
              <a:t>Potential harms or risks</a:t>
            </a:r>
          </a:p>
          <a:p>
            <a:pPr lvl="0"/>
            <a:r>
              <a:rPr/>
              <a:t>Who is vulnerable?</a:t>
            </a:r>
          </a:p>
          <a:p>
            <a:pPr lvl="0"/>
            <a:r>
              <a:rPr/>
              <a:t>Example or evidence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Argument AGAINST: Justice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Principle: Justice</a:t>
            </a:r>
            <a:r>
              <a:rPr/>
              <a:t> — Ensuring fairness</a:t>
            </a:r>
          </a:p>
          <a:p>
            <a:pPr lvl="0"/>
            <a:r>
              <a:rPr/>
              <a:t>Fairness concerns</a:t>
            </a:r>
          </a:p>
          <a:p>
            <a:pPr lvl="0"/>
            <a:r>
              <a:rPr/>
              <a:t>Disproportionate impacts on certain groups</a:t>
            </a:r>
          </a:p>
          <a:p>
            <a:pPr lvl="0"/>
            <a:r>
              <a:rPr/>
              <a:t>Example or evidence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Transparency &amp;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Questions:</a:t>
            </a:r>
          </a:p>
          <a:p>
            <a:pPr lvl="0"/>
            <a:r>
              <a:rPr/>
              <a:t>Who is accountable?</a:t>
            </a:r>
          </a:p>
          <a:p>
            <a:pPr lvl="0"/>
            <a:r>
              <a:rPr/>
              <a:t>Is the process transparent?</a:t>
            </a:r>
          </a:p>
          <a:p>
            <a:pPr lvl="0"/>
            <a:r>
              <a:rPr/>
              <a:t>Can decisions be explained and challenged?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Weighing the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Analysis:</a:t>
            </a:r>
          </a:p>
          <a:p>
            <a:pPr lvl="0"/>
            <a:r>
              <a:rPr/>
              <a:t>Strongest argument(s) and why</a:t>
            </a:r>
          </a:p>
          <a:p>
            <a:pPr lvl="0"/>
            <a:r>
              <a:rPr/>
              <a:t>Weaknesses you identified</a:t>
            </a:r>
          </a:p>
          <a:p>
            <a:pPr lvl="0"/>
            <a:r>
              <a:rPr/>
              <a:t>Possible middle ground or compromise?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Debate:</a:t>
            </a:r>
            <a:r>
              <a:rPr/>
              <a:t> [Restate central question briefly]</a:t>
            </a:r>
          </a:p>
          <a:p>
            <a:pPr lvl="0" indent="0" marL="0">
              <a:buNone/>
            </a:pPr>
            <a:r>
              <a:rPr b="1"/>
              <a:t>Key Tension:</a:t>
            </a:r>
            <a:r>
              <a:rPr/>
              <a:t> [The fundamental conflict between values/principles]</a:t>
            </a:r>
          </a:p>
          <a:p>
            <a:pPr lvl="0" indent="0" marL="0">
              <a:buNone/>
            </a:pPr>
            <a:r>
              <a:rPr b="1"/>
              <a:t>Looking Forward:</a:t>
            </a:r>
            <a:r>
              <a:rPr/>
              <a:t> [What should stakeholders consider?]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[Question that invites personal reflection]</a:t>
            </a:r>
          </a:p>
          <a:p>
            <a:pPr lvl="0" indent="-342900" marL="342900">
              <a:buAutoNum type="arabicPeriod"/>
            </a:pPr>
            <a:r>
              <a:rPr/>
              <a:t>[Question that applies the debate to a new context]</a:t>
            </a:r>
          </a:p>
          <a:p>
            <a:pPr lvl="0" indent="-342900" marL="342900">
              <a:buAutoNum type="arabicPeriod"/>
            </a:pPr>
            <a:r>
              <a:rPr/>
              <a:t>[Question that challenges assumptions]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[Author Last, First. “Article Title.” </a:t>
            </a:r>
            <a:r>
              <a:rPr i="1"/>
              <a:t>Publication</a:t>
            </a:r>
            <a:r>
              <a:rPr/>
              <a:t>, Date, URL.]</a:t>
            </a:r>
          </a:p>
          <a:p>
            <a:pPr lvl="0" indent="0" marL="0">
              <a:buNone/>
            </a:pPr>
            <a:r>
              <a:rPr/>
              <a:t>[Author Last, First. </a:t>
            </a:r>
            <a:r>
              <a:rPr i="1"/>
              <a:t>Book Title</a:t>
            </a:r>
            <a:r>
              <a:rPr/>
              <a:t>. Publisher, Year.]</a:t>
            </a:r>
          </a:p>
          <a:p>
            <a:pPr lvl="0" indent="0" marL="0">
              <a:buNone/>
            </a:pPr>
            <a:r>
              <a:rPr/>
              <a:t>[Organization. “Report Title.” Year, URL.]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[Your Name]</a:t>
            </a:r>
          </a:p>
          <a:p>
            <a:pPr lvl="0" indent="0" marL="0">
              <a:buNone/>
            </a:pPr>
            <a:r>
              <a:rPr/>
              <a:t>[Your Email - optional]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[Your Debate Topic Title]</dc:title>
  <dc:creator>[Your Name]</dc:creator>
  <cp:keywords/>
  <dcterms:created xsi:type="dcterms:W3CDTF">2025-12-28T13:50:20Z</dcterms:created>
  <dcterms:modified xsi:type="dcterms:W3CDTF">2025-12-28T13:50:20Z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[Date]</vt:lpwstr>
  </property>
  <property fmtid="{D5CDD505-2E9C-101B-9397-08002B2CF9AE}" pid="3" name="subtitle">
    <vt:lpwstr>Computing and AI Ethics Presentation</vt:lpwstr>
  </property>
</Properties>
</file>